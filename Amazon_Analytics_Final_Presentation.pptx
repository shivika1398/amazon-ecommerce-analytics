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Amazon Brazil / India Analytics</a:t>
            </a:r>
          </a:p>
          <a:p>
            <a:pPr algn="ctr">
              <a:defRPr sz="2200"/>
            </a:pPr>
            <a:r>
              <a:t>SQL Analysis — Key Findings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19 analytical questions • PostgreSQL • Payments • Products • Customers • 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Objective: use PostgreSQL to analyze sales, payments, products and customer behavior.</a:t>
            </a:r>
          </a:p>
          <a:p>
            <a:pPr>
              <a:spcAft>
                <a:spcPts val="1000"/>
              </a:spcAft>
              <a:defRPr sz="1900"/>
            </a:pPr>
            <a:r>
              <a:t>Dataset tables used: orders, payments, order_items, products and customers.</a:t>
            </a:r>
          </a:p>
          <a:p>
            <a:pPr>
              <a:spcAft>
                <a:spcPts val="1000"/>
              </a:spcAft>
              <a:defRPr sz="1900"/>
            </a:pPr>
            <a:r>
              <a:t>Three analysis stages covered descriptive payment/product analysis, customer and category analysis, and advanced time-series/customer analytics.</a:t>
            </a:r>
          </a:p>
          <a:p>
            <a:pPr>
              <a:spcAft>
                <a:spcPts val="1000"/>
              </a:spcAft>
              <a:defRPr sz="1900"/>
            </a:pPr>
            <a:r>
              <a:t>Advanced SQL techniques included subqueries, temporary tables, CTEs, recursive CTEs and window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Amazon Brazil Analytics | PostgreSQL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 1 — Payment Behavior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17320"/>
          <a:ext cx="4754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Payment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Share of orders*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Credit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76.9%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Boleto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19.9%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Voucher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3.9%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Debit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1.5%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Not defined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35040" y="141732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Credit card was the dominant payment method in the analysis.</a:t>
            </a:r>
          </a:p>
          <a:p>
            <a:pPr>
              <a:spcAft>
                <a:spcPts val="1000"/>
              </a:spcAft>
              <a:defRPr sz="1700"/>
            </a:pPr>
            <a:r>
              <a:t>Credit card also had the highest monthly sales values in the 2018 payment-type analysis.</a:t>
            </a:r>
          </a:p>
          <a:p>
            <a:pPr>
              <a:spcAft>
                <a:spcPts val="1000"/>
              </a:spcAft>
              <a:defRPr sz="1700"/>
            </a:pPr>
            <a:r>
              <a:t>Payment-value variability was lowest for voucher and boleto compared with credit/debit card.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*Percentages follow the assignment query and may not sum to 100% because orders can contain multiple payment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Amazon Brazil Analytics |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 2 — Sales Seasonality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17320"/>
          <a:ext cx="4846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700"/>
                      </a:pPr>
                      <a:r>
                        <a:t>Top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700"/>
                      </a:pPr>
                      <a:r>
                        <a:t>Total sales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1,746,901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1,696,822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1,658,924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35040" y="137160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Spring recorded the highest seasonal sales: 4,934,990.20.</a:t>
            </a:r>
          </a:p>
          <a:p>
            <a:pPr>
              <a:spcAft>
                <a:spcPts val="1000"/>
              </a:spcAft>
              <a:defRPr sz="1700"/>
            </a:pPr>
            <a:r>
              <a:t>Summer followed closely at 4,890,902.19.</a:t>
            </a:r>
          </a:p>
          <a:p>
            <a:pPr>
              <a:spcAft>
                <a:spcPts val="1000"/>
              </a:spcAft>
              <a:defRPr sz="1700"/>
            </a:pPr>
            <a:r>
              <a:t>Autumn was the lowest of the four seasons at 2,766,695.06.</a:t>
            </a:r>
          </a:p>
          <a:p>
            <a:pPr>
              <a:spcAft>
                <a:spcPts val="1000"/>
              </a:spcAft>
              <a:defRPr sz="1700"/>
            </a:pPr>
            <a:r>
              <a:t>The strongest individual months were May, August and July.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Amazon Brazil Analytics | 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 3 — Product Categories &amp; Revenue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25880"/>
          <a:ext cx="6492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24612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Top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Revenue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Beleza &amp; Saúde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1,257,865.34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Relógios &amp; Presentes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1,203,060.32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Cama, Mesa &amp; Banho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1,032,268.59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Esporte &amp; Lazer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985,881.10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Informática &amp; Acessórios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910,605.07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0664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Beleza_saude generated the highest category revenue in the analysis.</a:t>
            </a:r>
          </a:p>
          <a:p>
            <a:pPr>
              <a:spcAft>
                <a:spcPts val="1000"/>
              </a:spcAft>
              <a:defRPr sz="1500"/>
            </a:pPr>
            <a:r>
              <a:t>56 categories had a maximum-minus-minimum price spread above 500 BRL.</a:t>
            </a:r>
          </a:p>
          <a:p>
            <a:pPr>
              <a:spcAft>
                <a:spcPts val="1000"/>
              </a:spcAft>
              <a:defRPr sz="1500"/>
            </a:pPr>
            <a:r>
              <a:t>The highest observed price spread was in utilidades_domesticas (6,731.94 BRL).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Amazon Brazil Analytics | PostgreSQL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 4 — Customer Behavior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17320"/>
          <a:ext cx="47548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617220">
                <a:tc>
                  <a:txBody>
                    <a:bodyPr/>
                    <a:lstStyle/>
                    <a:p>
                      <a:pPr>
                        <a:defRPr b="1" sz="1700"/>
                      </a:pPr>
                      <a:r>
                        <a:t>Customer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700"/>
                      </a:pPr>
                      <a:r>
                        <a:t>Customers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91,937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Returning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3,020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Loyal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120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52160" y="13258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Most customers were classified as New under the assignment definition.</a:t>
            </a:r>
          </a:p>
          <a:p>
            <a:pPr>
              <a:spcAft>
                <a:spcPts val="1000"/>
              </a:spcAft>
              <a:defRPr sz="1600"/>
            </a:pPr>
            <a:r>
              <a:t>3,140 customers had more than one order.</a:t>
            </a:r>
          </a:p>
          <a:p>
            <a:pPr>
              <a:spcAft>
                <a:spcPts val="1000"/>
              </a:spcAft>
              <a:defRPr sz="1600"/>
            </a:pPr>
            <a:r>
              <a:t>In Analysis III's CTE segmentation, 94,635 were Occasional, 333 Regular and 109 Loyal.</a:t>
            </a:r>
          </a:p>
          <a:p>
            <a:pPr>
              <a:spcAft>
                <a:spcPts val="1000"/>
              </a:spcAft>
              <a:defRPr sz="1600"/>
            </a:pPr>
            <a:r>
              <a:t>The top 20 customers by average order value showed substantial high-value purchasing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Amazon Brazil Analytics | 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 5 — 2018 Monthly Payment Trends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7160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Payment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Observed monthly pattern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Boleto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Jan 204,844.66 → Aug 143,805.90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Credit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Jan 868,880.38 → Aug 797,648.89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Debit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Jan 11,543.55 → Aug 46,001.33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Voucher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Jan 29,735.59 → Sep 4,439.54 → Oct 589.67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38912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Debit card showed a sharp +267.35% month-over-month increase in June.</a:t>
            </a:r>
          </a:p>
          <a:p>
            <a:pPr>
              <a:spcAft>
                <a:spcPts val="1000"/>
              </a:spcAft>
              <a:defRPr sz="1500"/>
            </a:pPr>
            <a:r>
              <a:t>Voucher sales were highly volatile, including +75.21% in August and large declines afterward.</a:t>
            </a:r>
          </a:p>
          <a:p>
            <a:pPr>
              <a:spcAft>
                <a:spcPts val="1000"/>
              </a:spcAft>
              <a:defRPr sz="1500"/>
            </a:pPr>
            <a:r>
              <a:t>The LAG() analysis provides a month-to-month view for monitoring payment-method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Amazon Brazil Analytics | PostgreSQL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 6 — Cumulative Product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recursive CTE generated 62,176 product-month records.</a:t>
            </a:r>
          </a:p>
          <a:p>
            <a:pPr>
              <a:spcAft>
                <a:spcPts val="1000"/>
              </a:spcAft>
              <a:defRPr sz="1900"/>
            </a:pPr>
            <a:r>
              <a:t>For each product, the calculation starts at its first recorded sale month.</a:t>
            </a:r>
          </a:p>
          <a:p>
            <a:pPr>
              <a:spcAft>
                <a:spcPts val="1000"/>
              </a:spcAft>
              <a:defRPr sz="1900"/>
            </a:pPr>
            <a:r>
              <a:t>Each subsequent month's sales are added to the previous cumulative total.</a:t>
            </a:r>
          </a:p>
          <a:p>
            <a:pPr>
              <a:spcAft>
                <a:spcPts val="1000"/>
              </a:spcAft>
              <a:defRPr sz="1900"/>
            </a:pPr>
            <a:r>
              <a:t>This creates a product-level sales trajectory that can be used to identify products with sustained or accelerating sales.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Amazon Brazil Analytics | PostgreSQL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Prioritize credit-card checkout experience while continuing to support alternative payment methods.</a:t>
            </a:r>
          </a:p>
          <a:p>
            <a:pPr>
              <a:spcAft>
                <a:spcPts val="1000"/>
              </a:spcAft>
              <a:defRPr sz="1700"/>
            </a:pPr>
            <a:r>
              <a:t>Use the May–August high-sales period as a planning window for inventory, campaigns and seller capacity.</a:t>
            </a:r>
          </a:p>
          <a:p>
            <a:pPr>
              <a:spcAft>
                <a:spcPts val="1000"/>
              </a:spcAft>
              <a:defRPr sz="1700"/>
            </a:pPr>
            <a:r>
              <a:t>Focus category-level commercial analysis on high-revenue categories such as beleza_saude and relogios_presentes.</a:t>
            </a:r>
          </a:p>
          <a:p>
            <a:pPr>
              <a:spcAft>
                <a:spcPts val="1000"/>
              </a:spcAft>
              <a:defRPr sz="1700"/>
            </a:pPr>
            <a:r>
              <a:t>Develop retention initiatives for the large New/Occasional customer base to encourage repeat purchases.</a:t>
            </a:r>
          </a:p>
          <a:p>
            <a:pPr>
              <a:spcAft>
                <a:spcPts val="1000"/>
              </a:spcAft>
              <a:defRPr sz="1700"/>
            </a:pPr>
            <a:r>
              <a:t>Monitor payment-type MoM changes with the LAG() analysis to detect unusual increases or declines early.</a:t>
            </a:r>
          </a:p>
          <a:p>
            <a:pPr>
              <a:spcAft>
                <a:spcPts val="1000"/>
              </a:spcAft>
              <a:defRPr sz="1700"/>
            </a:pPr>
            <a:r>
              <a:t>Use cumulative product sales to identify products that build sales consistently over multiple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Amazon Brazil Analytics | PostgreSQL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&amp; Analysis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The products table did not contain a product-name field; the Q3 text filter therefore used product_category_name for the 'Smart' text condition.</a:t>
            </a:r>
          </a:p>
          <a:p>
            <a:pPr>
              <a:spcAft>
                <a:spcPts val="1000"/>
              </a:spcAft>
              <a:defRPr sz="1600"/>
            </a:pPr>
            <a:r>
              <a:t>The order_items table did not contain a quantity field; sales volume was represented by COUNT(*) of order-item records.</a:t>
            </a:r>
          </a:p>
          <a:p>
            <a:pPr>
              <a:spcAft>
                <a:spcPts val="1000"/>
              </a:spcAft>
              <a:defRPr sz="1600"/>
            </a:pPr>
            <a:r>
              <a:t>Q5 revenue was calculated from order-item price, excluding freight value.</a:t>
            </a:r>
          </a:p>
          <a:p>
            <a:pPr>
              <a:spcAft>
                <a:spcPts val="1000"/>
              </a:spcAft>
              <a:defRPr sz="1600"/>
            </a:pPr>
            <a:r>
              <a:t>The 2018 monthly revenue data available in the dataset covered January through September in the executed query.</a:t>
            </a:r>
          </a:p>
          <a:p>
            <a:pPr>
              <a:spcAft>
                <a:spcPts val="1000"/>
              </a:spcAft>
              <a:defRPr sz="1600"/>
            </a:pPr>
            <a:r>
              <a:t>Results and recommendations in this presentation are based on the SQL analyses performed for the assignment.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Amazon Brazil Analytics | PostgreSQL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The analysis shows a business strongly centered on credit-card payments, concentrated high-sales periods, a small repeat-customer base, and several high-value product categories.</a:t>
            </a:r>
          </a:p>
          <a:p>
            <a:pPr algn="ctr">
              <a:defRPr sz="2000"/>
            </a:pPr>
            <a:r>
              <a:t>The SQL workflow provides a foundation for payment optimization, seasonal planning, category management and customer-retention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Amazon Brazil Analytics | PostgreSQL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